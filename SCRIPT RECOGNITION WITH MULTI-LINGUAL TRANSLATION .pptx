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256" r:id="rId2"/>
    <p:sldId id="259" r:id="rId3"/>
    <p:sldId id="292" r:id="rId4"/>
    <p:sldId id="260" r:id="rId5"/>
    <p:sldId id="257" r:id="rId6"/>
    <p:sldId id="258" r:id="rId7"/>
    <p:sldId id="261" r:id="rId8"/>
    <p:sldId id="263" r:id="rId9"/>
    <p:sldId id="266" r:id="rId10"/>
    <p:sldId id="262" r:id="rId11"/>
    <p:sldId id="286" r:id="rId12"/>
    <p:sldId id="287" r:id="rId13"/>
    <p:sldId id="264" r:id="rId14"/>
    <p:sldId id="288" r:id="rId15"/>
    <p:sldId id="265" r:id="rId16"/>
    <p:sldId id="285" r:id="rId17"/>
    <p:sldId id="267" r:id="rId18"/>
    <p:sldId id="289" r:id="rId19"/>
    <p:sldId id="290" r:id="rId20"/>
    <p:sldId id="268" r:id="rId21"/>
    <p:sldId id="269" r:id="rId22"/>
    <p:sldId id="270" r:id="rId23"/>
    <p:sldId id="271" r:id="rId24"/>
    <p:sldId id="272" r:id="rId25"/>
    <p:sldId id="273" r:id="rId26"/>
    <p:sldId id="277" r:id="rId27"/>
    <p:sldId id="275" r:id="rId28"/>
    <p:sldId id="291" r:id="rId29"/>
    <p:sldId id="278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A3E05-196B-4BBA-ADDC-AF6DAC4FEE4E}" v="33" dt="2020-07-15T04:06:32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gnasa parikh" userId="7a1b32a8c51033af" providerId="Windows Live" clId="Web-{897A3E05-196B-4BBA-ADDC-AF6DAC4FEE4E}"/>
    <pc:docChg chg="modSld">
      <pc:chgData name="jignasa parikh" userId="7a1b32a8c51033af" providerId="Windows Live" clId="Web-{897A3E05-196B-4BBA-ADDC-AF6DAC4FEE4E}" dt="2020-07-15T04:06:32.663" v="29" actId="14100"/>
      <pc:docMkLst>
        <pc:docMk/>
      </pc:docMkLst>
      <pc:sldChg chg="addSp modSp">
        <pc:chgData name="jignasa parikh" userId="7a1b32a8c51033af" providerId="Windows Live" clId="Web-{897A3E05-196B-4BBA-ADDC-AF6DAC4FEE4E}" dt="2020-07-15T03:57:59.307" v="26" actId="1076"/>
        <pc:sldMkLst>
          <pc:docMk/>
          <pc:sldMk cId="0" sldId="261"/>
        </pc:sldMkLst>
        <pc:spChg chg="mod">
          <ac:chgData name="jignasa parikh" userId="7a1b32a8c51033af" providerId="Windows Live" clId="Web-{897A3E05-196B-4BBA-ADDC-AF6DAC4FEE4E}" dt="2020-07-15T03:57:20.933" v="20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jignasa parikh" userId="7a1b32a8c51033af" providerId="Windows Live" clId="Web-{897A3E05-196B-4BBA-ADDC-AF6DAC4FEE4E}" dt="2020-07-15T03:56:40.433" v="10" actId="1076"/>
          <ac:spMkLst>
            <pc:docMk/>
            <pc:sldMk cId="0" sldId="261"/>
            <ac:spMk id="8" creationId="{00000000-0000-0000-0000-000000000000}"/>
          </ac:spMkLst>
        </pc:spChg>
        <pc:picChg chg="add mod">
          <ac:chgData name="jignasa parikh" userId="7a1b32a8c51033af" providerId="Windows Live" clId="Web-{897A3E05-196B-4BBA-ADDC-AF6DAC4FEE4E}" dt="2020-07-15T03:57:59.307" v="26" actId="1076"/>
          <ac:picMkLst>
            <pc:docMk/>
            <pc:sldMk cId="0" sldId="261"/>
            <ac:picMk id="3" creationId="{9E038C0B-B909-4333-97C0-492CE9560959}"/>
          </ac:picMkLst>
        </pc:picChg>
        <pc:picChg chg="mod">
          <ac:chgData name="jignasa parikh" userId="7a1b32a8c51033af" providerId="Windows Live" clId="Web-{897A3E05-196B-4BBA-ADDC-AF6DAC4FEE4E}" dt="2020-07-15T03:57:26.901" v="21" actId="1076"/>
          <ac:picMkLst>
            <pc:docMk/>
            <pc:sldMk cId="0" sldId="261"/>
            <ac:picMk id="6" creationId="{00000000-0000-0000-0000-000000000000}"/>
          </ac:picMkLst>
        </pc:picChg>
        <pc:picChg chg="add mod">
          <ac:chgData name="jignasa parikh" userId="7a1b32a8c51033af" providerId="Windows Live" clId="Web-{897A3E05-196B-4BBA-ADDC-AF6DAC4FEE4E}" dt="2020-07-15T03:57:51.167" v="25" actId="1076"/>
          <ac:picMkLst>
            <pc:docMk/>
            <pc:sldMk cId="0" sldId="261"/>
            <ac:picMk id="9" creationId="{C970E214-8A80-446A-B8B3-4ED3773A84E8}"/>
          </ac:picMkLst>
        </pc:picChg>
      </pc:sldChg>
      <pc:sldChg chg="addSp delSp modSp">
        <pc:chgData name="jignasa parikh" userId="7a1b32a8c51033af" providerId="Windows Live" clId="Web-{897A3E05-196B-4BBA-ADDC-AF6DAC4FEE4E}" dt="2020-07-15T04:06:32.663" v="29" actId="14100"/>
        <pc:sldMkLst>
          <pc:docMk/>
          <pc:sldMk cId="3863673398" sldId="291"/>
        </pc:sldMkLst>
        <pc:spChg chg="del">
          <ac:chgData name="jignasa parikh" userId="7a1b32a8c51033af" providerId="Windows Live" clId="Web-{897A3E05-196B-4BBA-ADDC-AF6DAC4FEE4E}" dt="2020-07-15T04:06:21.616" v="27"/>
          <ac:spMkLst>
            <pc:docMk/>
            <pc:sldMk cId="3863673398" sldId="291"/>
            <ac:spMk id="3" creationId="{00000000-0000-0000-0000-000000000000}"/>
          </ac:spMkLst>
        </pc:spChg>
        <pc:picChg chg="add mod ord">
          <ac:chgData name="jignasa parikh" userId="7a1b32a8c51033af" providerId="Windows Live" clId="Web-{897A3E05-196B-4BBA-ADDC-AF6DAC4FEE4E}" dt="2020-07-15T04:06:32.663" v="29" actId="14100"/>
          <ac:picMkLst>
            <pc:docMk/>
            <pc:sldMk cId="3863673398" sldId="291"/>
            <ac:picMk id="4" creationId="{5E7A9D97-AB2F-4FBF-820D-CD70A5131D2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63E63-C9ED-4BC8-B093-D61DF0D071D7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A8E61-67D1-4D13-8F9F-FA368462A5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87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A8E61-67D1-4D13-8F9F-FA368462A51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533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GB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89B48475-B622-4B47-BF6F-11CDDE03A8C8}" type="datetimeFigureOut">
              <a:rPr lang="en-US" smtClean="0"/>
              <a:t>7/14/2020</a:t>
            </a:fld>
            <a:endParaRPr lang="en-GB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2D59F4B4-39B2-487C-A468-300C8584A3E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285728"/>
            <a:ext cx="8458200" cy="12223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SCRIPT RECOGNITION WITH MULTI-LINGUAL TRANSLATION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57298"/>
            <a:ext cx="8458200" cy="4286280"/>
          </a:xfrm>
        </p:spPr>
        <p:txBody>
          <a:bodyPr>
            <a:normAutofit fontScale="70000" lnSpcReduction="20000"/>
          </a:bodyPr>
          <a:lstStyle/>
          <a:p>
            <a:endParaRPr lang="en-US" b="1" dirty="0"/>
          </a:p>
          <a:p>
            <a:r>
              <a:rPr lang="en-GB" sz="2600" b="1" dirty="0"/>
              <a:t>CP442: PROJECT-II</a:t>
            </a:r>
            <a:endParaRPr lang="en-GB" sz="2600" dirty="0"/>
          </a:p>
          <a:p>
            <a:endParaRPr lang="en-US" sz="2600" dirty="0"/>
          </a:p>
          <a:p>
            <a:r>
              <a:rPr lang="en-US" sz="2600" i="1" dirty="0"/>
              <a:t>Guide</a:t>
            </a:r>
            <a:r>
              <a:rPr lang="en-US" sz="2600" dirty="0"/>
              <a:t>:</a:t>
            </a:r>
          </a:p>
          <a:p>
            <a:endParaRPr lang="en-US" sz="2600" dirty="0"/>
          </a:p>
          <a:p>
            <a:r>
              <a:rPr lang="en-US" sz="2600" dirty="0"/>
              <a:t>Dr. </a:t>
            </a:r>
            <a:r>
              <a:rPr lang="en-US" sz="2600" dirty="0" err="1"/>
              <a:t>H.D.Vasava</a:t>
            </a:r>
            <a:endParaRPr lang="en-GB" sz="2600" dirty="0"/>
          </a:p>
          <a:p>
            <a:r>
              <a:rPr lang="en-US" sz="2600" dirty="0"/>
              <a:t> Professor of Computer Engineering</a:t>
            </a:r>
            <a:endParaRPr lang="en-GB" sz="2600" dirty="0"/>
          </a:p>
          <a:p>
            <a:r>
              <a:rPr lang="en-US" sz="2600" dirty="0"/>
              <a:t> </a:t>
            </a:r>
            <a:endParaRPr lang="en-GB" sz="2600" dirty="0"/>
          </a:p>
          <a:p>
            <a:r>
              <a:rPr lang="en-US" sz="2600" dirty="0"/>
              <a:t>Dr. </a:t>
            </a:r>
            <a:r>
              <a:rPr lang="en-US" sz="2600" dirty="0" err="1"/>
              <a:t>P.B.Swadas</a:t>
            </a:r>
            <a:endParaRPr lang="en-GB" sz="2600" dirty="0"/>
          </a:p>
          <a:p>
            <a:r>
              <a:rPr lang="en-US" sz="2600" dirty="0"/>
              <a:t>Professor of Computer Engineering</a:t>
            </a:r>
          </a:p>
          <a:p>
            <a:r>
              <a:rPr lang="en-US" sz="2600" i="1" dirty="0"/>
              <a:t>						Submitted by</a:t>
            </a:r>
            <a:endParaRPr lang="en-US" sz="2600" dirty="0"/>
          </a:p>
          <a:p>
            <a:r>
              <a:rPr lang="en-US" sz="2600" dirty="0"/>
              <a:t>						1. Jignasa Parikh 									(16CP024)</a:t>
            </a:r>
            <a:endParaRPr lang="en-GB" sz="2600" dirty="0"/>
          </a:p>
          <a:p>
            <a:r>
              <a:rPr lang="en-US" sz="2600" dirty="0"/>
              <a:t>						2. Seby Amin 									(16CP031)</a:t>
            </a:r>
            <a:endParaRPr lang="en-GB" sz="2600" dirty="0"/>
          </a:p>
          <a:p>
            <a:endParaRPr lang="en-GB" dirty="0"/>
          </a:p>
        </p:txBody>
      </p:sp>
      <p:pic>
        <p:nvPicPr>
          <p:cNvPr id="4" name="Image1" descr="C:\Users\Ketan\Pictures\BVM Logo-1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00826" y="1285860"/>
            <a:ext cx="2286016" cy="18573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96752"/>
            <a:ext cx="8884096" cy="5232644"/>
          </a:xfrm>
        </p:spPr>
        <p:txBody>
          <a:bodyPr>
            <a:normAutofit fontScale="85000" lnSpcReduction="20000"/>
          </a:bodyPr>
          <a:lstStyle/>
          <a:p>
            <a:pPr>
              <a:buFont typeface="Wingdings 2" panose="05020102010507070707" pitchFamily="18" charset="2"/>
              <a:buChar char=""/>
            </a:pPr>
            <a:r>
              <a:rPr lang="en-GB" sz="2400" dirty="0"/>
              <a:t>Problem Overview</a:t>
            </a:r>
          </a:p>
          <a:p>
            <a:pPr>
              <a:buFont typeface="Wingdings 2" panose="05020102010507070707" pitchFamily="18" charset="2"/>
              <a:buChar char=""/>
            </a:pPr>
            <a:r>
              <a:rPr lang="en-GB" sz="2400" dirty="0"/>
              <a:t>Aim </a:t>
            </a:r>
          </a:p>
          <a:p>
            <a:pPr>
              <a:buFont typeface="Wingdings 2" panose="05020102010507070707" pitchFamily="18" charset="2"/>
              <a:buChar char=""/>
            </a:pPr>
            <a:r>
              <a:rPr lang="en-GB" sz="2400" dirty="0"/>
              <a:t>Objective</a:t>
            </a:r>
          </a:p>
          <a:p>
            <a:pPr>
              <a:buFont typeface="Wingdings 2" panose="05020102010507070707" pitchFamily="18" charset="2"/>
              <a:buChar char=""/>
            </a:pPr>
            <a:r>
              <a:rPr lang="en-GB" sz="2400" dirty="0"/>
              <a:t>What we had to do overall!</a:t>
            </a:r>
          </a:p>
          <a:p>
            <a:pPr>
              <a:buFont typeface="Wingdings 2" panose="05020102010507070707" pitchFamily="18" charset="2"/>
              <a:buChar char=""/>
            </a:pPr>
            <a:r>
              <a:rPr lang="en-GB" sz="2400" dirty="0"/>
              <a:t>Method we approached..</a:t>
            </a:r>
          </a:p>
          <a:p>
            <a:pPr>
              <a:buFont typeface="Wingdings 2" panose="05020102010507070707" pitchFamily="18" charset="2"/>
              <a:buChar char=""/>
            </a:pPr>
            <a:r>
              <a:rPr lang="en-GB" sz="2400" dirty="0"/>
              <a:t>Flow diagram</a:t>
            </a:r>
          </a:p>
          <a:p>
            <a:pPr>
              <a:buFont typeface="Wingdings 2" panose="05020102010507070707" pitchFamily="18" charset="2"/>
              <a:buChar char=""/>
            </a:pPr>
            <a:r>
              <a:rPr lang="en-GB" sz="2400" dirty="0"/>
              <a:t>Implementation </a:t>
            </a:r>
          </a:p>
          <a:p>
            <a:pPr lvl="1">
              <a:buFont typeface="Wingdings 2" panose="05020102010507070707" pitchFamily="18" charset="2"/>
              <a:buChar char=""/>
            </a:pPr>
            <a:r>
              <a:rPr lang="en-GB" sz="2000" dirty="0"/>
              <a:t>Pre-processing</a:t>
            </a:r>
          </a:p>
          <a:p>
            <a:pPr lvl="1">
              <a:buFont typeface="Wingdings 2" panose="05020102010507070707" pitchFamily="18" charset="2"/>
              <a:buChar char=""/>
            </a:pPr>
            <a:r>
              <a:rPr lang="en-GB" sz="2000" dirty="0"/>
              <a:t>Line segmentation</a:t>
            </a:r>
          </a:p>
          <a:p>
            <a:pPr lvl="1">
              <a:buFont typeface="Wingdings 2" panose="05020102010507070707" pitchFamily="18" charset="2"/>
              <a:buChar char=""/>
            </a:pPr>
            <a:r>
              <a:rPr lang="en-GB" sz="2000" dirty="0"/>
              <a:t>Word segmentation</a:t>
            </a:r>
          </a:p>
          <a:p>
            <a:pPr lvl="1">
              <a:buFont typeface="Wingdings 2" panose="05020102010507070707" pitchFamily="18" charset="2"/>
              <a:buChar char=""/>
            </a:pPr>
            <a:r>
              <a:rPr lang="en-GB" sz="2000" dirty="0"/>
              <a:t>Dataset creation</a:t>
            </a:r>
          </a:p>
          <a:p>
            <a:pPr lvl="1">
              <a:buFont typeface="Wingdings 2" panose="05020102010507070707" pitchFamily="18" charset="2"/>
              <a:buChar char=""/>
            </a:pPr>
            <a:r>
              <a:rPr lang="en-GB" sz="2000" dirty="0"/>
              <a:t>Model creation and prediction</a:t>
            </a:r>
          </a:p>
          <a:p>
            <a:pPr lvl="1">
              <a:buFont typeface="Wingdings 2" panose="05020102010507070707" pitchFamily="18" charset="2"/>
              <a:buChar char=""/>
            </a:pPr>
            <a:r>
              <a:rPr lang="en-GB" sz="2000" dirty="0"/>
              <a:t>translation</a:t>
            </a:r>
          </a:p>
          <a:p>
            <a:pPr lvl="1">
              <a:buFont typeface="Wingdings 2" panose="05020102010507070707" pitchFamily="18" charset="2"/>
              <a:buChar char=""/>
            </a:pPr>
            <a:endParaRPr lang="en-GB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sz="2400" dirty="0"/>
              <a:t>Applications</a:t>
            </a:r>
          </a:p>
          <a:p>
            <a:pPr>
              <a:buFont typeface="Wingdings 2" panose="05020102010507070707" pitchFamily="18" charset="2"/>
              <a:buChar char=""/>
            </a:pPr>
            <a:r>
              <a:rPr lang="en-GB" sz="2400" dirty="0"/>
              <a:t>Limitation</a:t>
            </a:r>
          </a:p>
          <a:p>
            <a:pPr>
              <a:buFont typeface="Wingdings 2" panose="05020102010507070707" pitchFamily="18" charset="2"/>
              <a:buChar char=""/>
            </a:pPr>
            <a:r>
              <a:rPr lang="en-GB" sz="2400" dirty="0"/>
              <a:t>Future Scope</a:t>
            </a:r>
          </a:p>
          <a:p>
            <a:pPr>
              <a:buFont typeface="Wingdings 2" panose="05020102010507070707" pitchFamily="18" charset="2"/>
              <a:buChar char=""/>
            </a:pPr>
            <a:r>
              <a:rPr lang="en-GB" sz="2400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overview: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Worried </a:t>
            </a:r>
            <a:r>
              <a:rPr lang="en-US" dirty="0"/>
              <a:t>of converting your handwritten assignment to text file?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7" y="2708920"/>
            <a:ext cx="4752529" cy="337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61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Frustrated by seeing the language you are unaware of?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4692799"/>
            <a:ext cx="3594323" cy="11784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632" y="2708920"/>
            <a:ext cx="230505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a module to recognize the script (detect image), extract image and translate it to user-defined language.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To transform image text into appropriate plain text.</a:t>
            </a:r>
            <a:endParaRPr lang="en-GB" sz="2800" dirty="0"/>
          </a:p>
          <a:p>
            <a:endParaRPr lang="en-GB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To translate the plain text obtained through the above processing to user-friendly language.</a:t>
            </a:r>
            <a:endParaRPr lang="en-GB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we had to do overall!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36" y="1124744"/>
            <a:ext cx="6315075" cy="1438275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2555776" y="2617605"/>
            <a:ext cx="28803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0" y="3117955"/>
            <a:ext cx="4229100" cy="1162050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 rot="5400000">
            <a:off x="4888020" y="5084267"/>
            <a:ext cx="28803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4754744" y="3609653"/>
            <a:ext cx="52342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038C0B-B909-4333-97C0-492CE9560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658" y="2952033"/>
            <a:ext cx="2743200" cy="2780547"/>
          </a:xfrm>
          <a:prstGeom prst="rect">
            <a:avLst/>
          </a:prstGeom>
        </p:spPr>
      </p:pic>
      <p:pic>
        <p:nvPicPr>
          <p:cNvPr id="9" name="Picture 9" descr="A picture containing bird&#10;&#10;Description automatically generated">
            <a:extLst>
              <a:ext uri="{FF2B5EF4-FFF2-40B4-BE49-F238E27FC236}">
                <a16:creationId xmlns:a16="http://schemas.microsoft.com/office/drawing/2014/main" id="{C970E214-8A80-446A-B8B3-4ED3773A8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67" y="4945822"/>
            <a:ext cx="4471372" cy="9805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we approached..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357298"/>
            <a:ext cx="7786742" cy="50720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Flow diagram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1357298"/>
            <a:ext cx="7572428" cy="51435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GB" sz="2400" b="1" i="1" dirty="0"/>
              <a:t>Input Image:</a:t>
            </a:r>
          </a:p>
          <a:p>
            <a:pPr marL="457200" indent="-457200">
              <a:buNone/>
            </a:pPr>
            <a:r>
              <a:rPr lang="en-GB" sz="2400" dirty="0"/>
              <a:t>	</a:t>
            </a:r>
            <a:r>
              <a:rPr lang="en-US" sz="2400" dirty="0"/>
              <a:t> The module takes text image as input which has to be classified into valid text of a particular language(here English and Hindi).</a:t>
            </a:r>
          </a:p>
          <a:p>
            <a:pPr marL="457200" indent="-457200">
              <a:buNone/>
            </a:pPr>
            <a:endParaRPr lang="en-GB" sz="2400" dirty="0"/>
          </a:p>
          <a:p>
            <a:pPr marL="457200" indent="-457200">
              <a:buNone/>
            </a:pPr>
            <a:endParaRPr lang="en-US" sz="2400" dirty="0"/>
          </a:p>
          <a:p>
            <a:pPr marL="457200" indent="-457200">
              <a:buNone/>
            </a:pPr>
            <a:r>
              <a:rPr lang="en-GB" sz="2400" dirty="0"/>
              <a:t>	</a:t>
            </a:r>
            <a:endParaRPr lang="en-US" sz="2400" dirty="0"/>
          </a:p>
          <a:p>
            <a:pPr marL="457200" indent="-457200">
              <a:buNone/>
            </a:pPr>
            <a:endParaRPr lang="en-US" sz="2400" dirty="0"/>
          </a:p>
          <a:p>
            <a:pPr marL="457200" indent="-457200">
              <a:buNone/>
            </a:pPr>
            <a:endParaRPr lang="en-GB" sz="2400" dirty="0"/>
          </a:p>
        </p:txBody>
      </p:sp>
      <p:pic>
        <p:nvPicPr>
          <p:cNvPr id="4" name="Picture 3" descr="C:\Users\Administrator\Downloads\jigna report\eng_input_2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3429000"/>
            <a:ext cx="2928958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Users\Administrator\Downloads\jigna report\hindi input 2.jpe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9190" y="3429000"/>
            <a:ext cx="2857520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(pre-processing)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b="1" i="1" dirty="0"/>
              <a:t>Normalization(Gray-Scaling):</a:t>
            </a:r>
          </a:p>
          <a:p>
            <a:pPr marL="457200" indent="-457200">
              <a:buNone/>
            </a:pPr>
            <a:r>
              <a:rPr lang="en-US" sz="2400" dirty="0"/>
              <a:t>	These images are then normalized and converted to gray scale to reduce its size and precisely for faster execution of the program.</a:t>
            </a:r>
          </a:p>
          <a:p>
            <a:endParaRPr lang="en-GB" sz="2400" dirty="0"/>
          </a:p>
        </p:txBody>
      </p:sp>
      <p:pic>
        <p:nvPicPr>
          <p:cNvPr id="4" name="Picture 3" descr="C:\Users\Administrator\Downloads\jigna report\gray scale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357562"/>
            <a:ext cx="3071834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Users\Administrator\Downloads\jigna report\grayscale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3357562"/>
            <a:ext cx="357190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(pre-processing)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b="1" i="1" dirty="0"/>
              <a:t>Blurring</a:t>
            </a:r>
            <a:r>
              <a:rPr lang="en-US" sz="2400" b="1" dirty="0"/>
              <a:t>:</a:t>
            </a:r>
          </a:p>
          <a:p>
            <a:pPr marL="457200" indent="-457200">
              <a:buNone/>
            </a:pPr>
            <a:r>
              <a:rPr lang="en-US" sz="2400" dirty="0"/>
              <a:t>	For fine extraction of each and every word in the text, blurring and then thresholding image plays a vital role in its processing.</a:t>
            </a:r>
          </a:p>
          <a:p>
            <a:endParaRPr lang="en-GB" sz="2400" dirty="0"/>
          </a:p>
        </p:txBody>
      </p:sp>
      <p:pic>
        <p:nvPicPr>
          <p:cNvPr id="4" name="Picture 3" descr="C:\Users\Administrator\Downloads\jigna report\filter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286124"/>
            <a:ext cx="321471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Users\Administrator\Downloads\jigna report\filter_image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0" y="3357562"/>
            <a:ext cx="3429024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(pre-processing)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b="1" i="1" dirty="0"/>
              <a:t>Thresholding:</a:t>
            </a:r>
          </a:p>
          <a:p>
            <a:pPr marL="457200" indent="-457200">
              <a:buNone/>
            </a:pPr>
            <a:r>
              <a:rPr lang="en-US" sz="2400" dirty="0"/>
              <a:t>	Otsu’s Binarization :- This method gives a threshold for the whole image considering the various characteristics of whole image(like lighting, conditions, contrast, sharpness etc.) and that threshold is used for Binarizing image.</a:t>
            </a:r>
            <a:endParaRPr lang="en-GB" sz="2400" dirty="0"/>
          </a:p>
          <a:p>
            <a:pPr marL="457200" indent="-457200">
              <a:buNone/>
            </a:pPr>
            <a:endParaRPr lang="en-GB" sz="2400" b="1" i="1" dirty="0"/>
          </a:p>
          <a:p>
            <a:pPr>
              <a:buNone/>
            </a:pPr>
            <a:r>
              <a:rPr lang="en-GB" sz="2400" dirty="0"/>
              <a:t>	  </a:t>
            </a:r>
          </a:p>
        </p:txBody>
      </p:sp>
      <p:pic>
        <p:nvPicPr>
          <p:cNvPr id="4" name="Picture 3" descr="C:\Users\Administrator\Downloads\jigna report\eng thresholding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571876"/>
            <a:ext cx="3143272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Users\Administrator\Downloads\jigna report\thresholding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3571876"/>
            <a:ext cx="3214710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processing (text extraction)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i="1" dirty="0"/>
          </a:p>
          <a:p>
            <a:pPr marL="400050" lvl="1" indent="0">
              <a:buNone/>
            </a:pPr>
            <a:endParaRPr lang="en-GB" sz="2000" b="1" i="1" dirty="0"/>
          </a:p>
          <a:p>
            <a:pPr marL="0" indent="0">
              <a:buNone/>
            </a:pPr>
            <a:r>
              <a:rPr lang="en-GB" sz="2400" dirty="0"/>
              <a:t>	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852" y="1554162"/>
            <a:ext cx="6264696" cy="47551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Line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/>
              <a:t>From threshold image, find contours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Form regions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Scan vertically, to separate lines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Save the lines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573016"/>
            <a:ext cx="7488832" cy="17392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/>
              <a:t>Get the lines as input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Scan horizontally segment words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Save the word image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817143"/>
            <a:ext cx="5521027" cy="18441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Creating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Generated word images in different font sizes and styles.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Formation of dataset by:</a:t>
            </a:r>
          </a:p>
          <a:p>
            <a:pPr lvl="1"/>
            <a:r>
              <a:rPr lang="en-US" sz="2000" dirty="0"/>
              <a:t>Replicating word images into 1000 images</a:t>
            </a:r>
          </a:p>
          <a:p>
            <a:pPr lvl="1"/>
            <a:r>
              <a:rPr lang="en-US" sz="2000" dirty="0"/>
              <a:t>With distortion level =4 (1 being lowest and 10 being highest)</a:t>
            </a:r>
          </a:p>
          <a:p>
            <a:pPr lvl="1"/>
            <a:r>
              <a:rPr lang="en-US" sz="2000" dirty="0"/>
              <a:t>Different sizes of words were generated using the parameter of breadth and height with probability distribution of 0.8.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These images are given to train the model.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image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308" y="1097972"/>
            <a:ext cx="4559448" cy="26831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3740423"/>
            <a:ext cx="4819650" cy="297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0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pic>
        <p:nvPicPr>
          <p:cNvPr id="1026" name="Picture 2" descr="deep learning feature engineer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287" y="1888331"/>
            <a:ext cx="69818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453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/>
              <a:t>Convolution Neural Network (</a:t>
            </a:r>
            <a:r>
              <a:rPr lang="en-US" b="1" i="1" dirty="0" err="1"/>
              <a:t>Cnn</a:t>
            </a:r>
            <a:r>
              <a:rPr lang="en-US" b="1" i="1" dirty="0"/>
              <a:t>) :</a:t>
            </a:r>
            <a:br>
              <a:rPr lang="en-US" b="1" i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Regularized MLP, inspired by neurons in human brain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network learns features of each class of image to classify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Hidden layers consists of series of convolution layers discussed in next slides…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GB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3501008"/>
            <a:ext cx="496252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Layers in </a:t>
            </a:r>
            <a:r>
              <a:rPr lang="en-GB" dirty="0" err="1"/>
              <a:t>Cnn</a:t>
            </a:r>
            <a:r>
              <a:rPr lang="en-GB" dirty="0"/>
              <a:t> 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CNN has four Type of layers as follows – </a:t>
            </a:r>
            <a:endParaRPr lang="en-GB" sz="2400" dirty="0"/>
          </a:p>
          <a:p>
            <a:pPr lvl="2">
              <a:buNone/>
            </a:pPr>
            <a:r>
              <a:rPr lang="en-US" dirty="0"/>
              <a:t>1. Convolutional Layer (CONV) </a:t>
            </a:r>
            <a:endParaRPr lang="en-GB" dirty="0"/>
          </a:p>
          <a:p>
            <a:pPr lvl="2">
              <a:buNone/>
            </a:pPr>
            <a:r>
              <a:rPr lang="en-US" dirty="0"/>
              <a:t>2. Rectified Linear Unit Layer (</a:t>
            </a:r>
            <a:r>
              <a:rPr lang="en-US" dirty="0" err="1"/>
              <a:t>ReLu</a:t>
            </a:r>
            <a:r>
              <a:rPr lang="en-US" dirty="0"/>
              <a:t>)</a:t>
            </a:r>
            <a:endParaRPr lang="en-GB" dirty="0"/>
          </a:p>
          <a:p>
            <a:pPr lvl="2">
              <a:buNone/>
            </a:pPr>
            <a:r>
              <a:rPr lang="en-US" dirty="0"/>
              <a:t>3. Pooling Layer (POOL)</a:t>
            </a:r>
          </a:p>
          <a:p>
            <a:pPr lvl="2">
              <a:buNone/>
            </a:pPr>
            <a:r>
              <a:rPr lang="en-US" dirty="0"/>
              <a:t>4. Flatten Layer</a:t>
            </a:r>
          </a:p>
          <a:p>
            <a:pPr lvl="2">
              <a:buNone/>
            </a:pPr>
            <a:endParaRPr lang="en-GB" dirty="0"/>
          </a:p>
        </p:txBody>
      </p:sp>
      <p:pic>
        <p:nvPicPr>
          <p:cNvPr id="4" name="Image1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624" y="3913733"/>
            <a:ext cx="7560840" cy="29289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Layers in </a:t>
            </a:r>
            <a:r>
              <a:rPr lang="en-GB" dirty="0" err="1"/>
              <a:t>cnn</a:t>
            </a:r>
            <a:r>
              <a:rPr lang="en-GB" dirty="0"/>
              <a:t>: </a:t>
            </a:r>
            <a:r>
              <a:rPr lang="en-GB" b="1" i="1" dirty="0"/>
              <a:t>convolutional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Input image matrix * filter = result of convolve layer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preserves the relationship between pixels by learning image features using small squares of input data. </a:t>
            </a:r>
            <a:endParaRPr lang="en-GB" sz="2400" i="1" dirty="0"/>
          </a:p>
        </p:txBody>
      </p:sp>
      <p:pic>
        <p:nvPicPr>
          <p:cNvPr id="4" name="Image1" descr="C:\Users\Admin\Desktop\1_7S266Kq-UCExS25iX_I_AQ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5656" y="2894036"/>
            <a:ext cx="5929354" cy="34290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6632"/>
            <a:ext cx="8686800" cy="1584176"/>
          </a:xfrm>
        </p:spPr>
        <p:txBody>
          <a:bodyPr>
            <a:normAutofit fontScale="90000"/>
          </a:bodyPr>
          <a:lstStyle/>
          <a:p>
            <a:r>
              <a:rPr lang="en-GB" dirty="0"/>
              <a:t>Layers in CNN: </a:t>
            </a:r>
            <a:r>
              <a:rPr lang="en-US" b="1" i="1" dirty="0"/>
              <a:t>Rectified Linear Unit Layer (</a:t>
            </a:r>
            <a:r>
              <a:rPr lang="en-US" b="1" i="1" dirty="0" err="1"/>
              <a:t>ReLu</a:t>
            </a:r>
            <a:r>
              <a:rPr lang="en-US" b="1" i="1" dirty="0"/>
              <a:t>):</a:t>
            </a:r>
            <a:br>
              <a:rPr lang="en-US" b="1" i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piecewise linear </a:t>
            </a:r>
            <a:r>
              <a:rPr lang="en-US" sz="2400" b="1" dirty="0"/>
              <a:t>function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 f(x)=max(0,input matrix)</a:t>
            </a:r>
            <a:endParaRPr lang="en-GB" sz="2400" i="1" dirty="0"/>
          </a:p>
        </p:txBody>
      </p:sp>
      <p:pic>
        <p:nvPicPr>
          <p:cNvPr id="4" name="Image1" descr="1_DfMRHwxY1gyyDmrIAd-gjQ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3728" y="2506045"/>
            <a:ext cx="5643602" cy="3571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Layers in </a:t>
            </a:r>
            <a:r>
              <a:rPr lang="en-GB" dirty="0" err="1"/>
              <a:t>Cnn</a:t>
            </a:r>
            <a:r>
              <a:rPr lang="en-GB" dirty="0"/>
              <a:t>: </a:t>
            </a:r>
            <a:r>
              <a:rPr lang="en-US" b="1" i="1" dirty="0" err="1"/>
              <a:t>Maxpooling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sampling or compressing the dimensions of the input image.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Filter can be 2x2 or 3x3 as per the requirement.</a:t>
            </a:r>
          </a:p>
          <a:p>
            <a:pPr>
              <a:buNone/>
            </a:pPr>
            <a:endParaRPr lang="en-US" sz="2400" b="1" i="1" dirty="0"/>
          </a:p>
        </p:txBody>
      </p:sp>
      <p:pic>
        <p:nvPicPr>
          <p:cNvPr id="4" name="Image1" descr="download.jp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9712" y="2564904"/>
            <a:ext cx="5072098" cy="32861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Layers in </a:t>
            </a:r>
            <a:r>
              <a:rPr lang="en-GB" dirty="0" err="1"/>
              <a:t>cnn</a:t>
            </a:r>
            <a:r>
              <a:rPr lang="en-GB" dirty="0"/>
              <a:t>:  </a:t>
            </a:r>
            <a:r>
              <a:rPr lang="en-US" b="1" i="1" dirty="0"/>
              <a:t>Flatten layer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 transforms a 2D matrix of features into a vector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Ready to fed into a fully connected neural network classifier.</a:t>
            </a:r>
            <a:endParaRPr lang="en-GB" sz="2400" dirty="0"/>
          </a:p>
          <a:p>
            <a:pPr>
              <a:buNone/>
            </a:pPr>
            <a:endParaRPr lang="en-GB" sz="2400" i="1" dirty="0"/>
          </a:p>
        </p:txBody>
      </p:sp>
      <p:pic>
        <p:nvPicPr>
          <p:cNvPr id="4" name="Image1" descr="download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184" y="2564904"/>
            <a:ext cx="4572032" cy="33575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Model creation: </a:t>
            </a:r>
            <a:r>
              <a:rPr lang="en-US" b="1" i="1" dirty="0"/>
              <a:t>Sequential model: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72816"/>
            <a:ext cx="8686800" cy="430730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 err="1"/>
              <a:t>Keras</a:t>
            </a:r>
            <a:r>
              <a:rPr lang="en-US" sz="2400" dirty="0"/>
              <a:t> model, allows  to create models layer-by-layer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way of creating deep learning models where an instance of the Sequential class is created to add layers and modify it.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Create model by: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Adding batch size to compute training of images (32,64,128,etc)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Provide proper loss function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better performing optimizer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Accuracy matrix</a:t>
            </a:r>
          </a:p>
          <a:p>
            <a:pPr>
              <a:buNone/>
            </a:pPr>
            <a:r>
              <a:rPr lang="en-US" sz="2400" dirty="0"/>
              <a:t>	</a:t>
            </a:r>
            <a:endParaRPr lang="en-GB" sz="2400" dirty="0"/>
          </a:p>
          <a:p>
            <a:pPr>
              <a:buNone/>
            </a:pPr>
            <a:r>
              <a:rPr lang="en-US" sz="2400" dirty="0"/>
              <a:t> </a:t>
            </a:r>
            <a:endParaRPr lang="en-GB" sz="2400" dirty="0"/>
          </a:p>
          <a:p>
            <a:pPr>
              <a:buNone/>
            </a:pPr>
            <a:endParaRPr lang="en-GB" sz="2400" i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model: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696" y="1500174"/>
            <a:ext cx="8686800" cy="4857784"/>
          </a:xfrm>
        </p:spPr>
        <p:txBody>
          <a:bodyPr>
            <a:normAutofit fontScale="70000" lnSpcReduction="20000"/>
          </a:bodyPr>
          <a:lstStyle/>
          <a:p>
            <a:pPr lvl="0">
              <a:buFont typeface="Wingdings" pitchFamily="2" charset="2"/>
              <a:buChar char="q"/>
            </a:pPr>
            <a:r>
              <a:rPr lang="en-US" b="1" i="1" dirty="0"/>
              <a:t>An optimizer:</a:t>
            </a:r>
            <a:endParaRPr lang="en-GB" b="1" i="1" dirty="0"/>
          </a:p>
          <a:p>
            <a:pPr>
              <a:buNone/>
            </a:pPr>
            <a:r>
              <a:rPr lang="en-US" dirty="0"/>
              <a:t>		 could be  string identifier of an existing optimizer (such as rmsprop or </a:t>
            </a:r>
            <a:r>
              <a:rPr lang="en-US" dirty="0" err="1"/>
              <a:t>adagrad</a:t>
            </a:r>
            <a:r>
              <a:rPr lang="en-US" dirty="0"/>
              <a:t> or </a:t>
            </a:r>
            <a:r>
              <a:rPr lang="en-US" dirty="0" err="1"/>
              <a:t>adam</a:t>
            </a:r>
            <a:r>
              <a:rPr lang="en-US" dirty="0"/>
              <a:t>) or an instance of the  Optimizer class. </a:t>
            </a:r>
            <a:endParaRPr lang="en-GB" dirty="0"/>
          </a:p>
          <a:p>
            <a:endParaRPr lang="en-GB" dirty="0"/>
          </a:p>
          <a:p>
            <a:pPr>
              <a:buFont typeface="Wingdings" pitchFamily="2" charset="2"/>
              <a:buChar char="q"/>
            </a:pPr>
            <a:r>
              <a:rPr lang="en-US" b="1" i="1" dirty="0"/>
              <a:t>A loss function:</a:t>
            </a:r>
            <a:endParaRPr lang="en-GB" b="1" i="1" dirty="0"/>
          </a:p>
          <a:p>
            <a:pPr>
              <a:buNone/>
            </a:pPr>
            <a:r>
              <a:rPr lang="en-US" dirty="0"/>
              <a:t>      	This is the objective that the model will try to minimize. It can be the string identifier of an existing loss function (such as categorical_crossentropy or mse), or it can be an objective function. </a:t>
            </a:r>
            <a:endParaRPr lang="en-GB" dirty="0"/>
          </a:p>
          <a:p>
            <a:pPr>
              <a:buNone/>
            </a:pPr>
            <a:endParaRPr lang="en-GB" i="1" dirty="0"/>
          </a:p>
          <a:p>
            <a:pPr lvl="0">
              <a:buFont typeface="Wingdings" pitchFamily="2" charset="2"/>
              <a:buChar char="q"/>
            </a:pPr>
            <a:r>
              <a:rPr lang="en-US" b="1" i="1" dirty="0"/>
              <a:t>A list of metrics:</a:t>
            </a:r>
            <a:endParaRPr lang="en-GB" b="1" i="1" dirty="0"/>
          </a:p>
          <a:p>
            <a:pPr lvl="0">
              <a:buNone/>
            </a:pPr>
            <a:r>
              <a:rPr lang="en-GB" dirty="0"/>
              <a:t>		</a:t>
            </a:r>
            <a:r>
              <a:rPr lang="en-US" dirty="0"/>
              <a:t>For any classification problem you will want to set this to metrics=['accuracy']. A metric could be the string identifier of an existing metric or a custom metric function.</a:t>
            </a:r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:</a:t>
            </a:r>
          </a:p>
        </p:txBody>
      </p:sp>
      <p:pic>
        <p:nvPicPr>
          <p:cNvPr id="4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E7A9D97-AB2F-4FBF-820D-CD70A5131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845" y="1294617"/>
            <a:ext cx="4745410" cy="5494267"/>
          </a:xfrm>
        </p:spPr>
      </p:pic>
    </p:spTree>
    <p:extLst>
      <p:ext uri="{BB962C8B-B14F-4D97-AF65-F5344CB8AC3E}">
        <p14:creationId xmlns:p14="http://schemas.microsoft.com/office/powerpoint/2010/main" val="3863673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translate module for its translation to user-preferred language.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Accuracy of this translation totally depends on the accuracy of text extraction from the entire module of this project. .</a:t>
            </a:r>
            <a:endParaRPr lang="en-GB" sz="2400" dirty="0"/>
          </a:p>
        </p:txBody>
      </p:sp>
      <p:pic>
        <p:nvPicPr>
          <p:cNvPr id="4" name="Picture 3" descr="C:\Users\Administrator\Downloads\jigna report\translate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3688" y="2793977"/>
            <a:ext cx="6357982" cy="32861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400" dirty="0"/>
              <a:t>To digitalize printed data records, can be Passport Documents, Invoices, Bank Statements, Business Card, Mail or Other Documents.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400" dirty="0"/>
              <a:t>used in Machine Processes as Machine Translation, Text-to-Speech, Key Data and Text Mining</a:t>
            </a:r>
          </a:p>
          <a:p>
            <a:pPr marL="0" indent="0">
              <a:buNone/>
            </a:pPr>
            <a:endParaRPr lang="en-GB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400" dirty="0"/>
              <a:t>Different deep learning methods can be approached for different language image detection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400" dirty="0"/>
              <a:t>Type of image always affects output</a:t>
            </a:r>
          </a:p>
          <a:p>
            <a:pPr marL="0" indent="0">
              <a:buNone/>
            </a:pPr>
            <a:endParaRPr lang="en-GB" sz="2400" dirty="0"/>
          </a:p>
          <a:p>
            <a:pPr>
              <a:buFont typeface="Wingdings" panose="05000000000000000000" pitchFamily="2" charset="2"/>
              <a:buChar char="q"/>
            </a:pPr>
            <a:endParaRPr lang="en-GB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Translation module can be explored for grammatically correct sentences.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Modification to OCR can help in faster digitalizing world.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Better scanning tools can be developed to capture images properly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85860"/>
            <a:ext cx="8686800" cy="5143536"/>
          </a:xfrm>
        </p:spPr>
        <p:txBody>
          <a:bodyPr>
            <a:normAutofit/>
          </a:bodyPr>
          <a:lstStyle/>
          <a:p>
            <a:pPr lvl="0" fontAlgn="base">
              <a:buFont typeface="Wingdings" panose="05000000000000000000" pitchFamily="2" charset="2"/>
              <a:buChar char="Ø"/>
            </a:pPr>
            <a:r>
              <a:rPr lang="en-US" sz="1500" dirty="0" err="1"/>
              <a:t>Abdelmalek</a:t>
            </a:r>
            <a:r>
              <a:rPr lang="en-US" sz="1500" dirty="0"/>
              <a:t> Amine, </a:t>
            </a:r>
            <a:r>
              <a:rPr lang="en-US" sz="1500" dirty="0" err="1"/>
              <a:t>ZakariaElberrichi</a:t>
            </a:r>
            <a:r>
              <a:rPr lang="en-US" sz="1500" dirty="0"/>
              <a:t>, Michel </a:t>
            </a:r>
            <a:r>
              <a:rPr lang="en-US" sz="1500" dirty="0" err="1"/>
              <a:t>Simonet</a:t>
            </a:r>
            <a:r>
              <a:rPr lang="en-US" sz="1500" dirty="0"/>
              <a:t>, ' AUTOMATIC LANGUAGE IDENTIFICATION: AN ALTERNATIVE UNSUPERVISED APPROACH USING A NEW HYBRID ALGORITHM' , International Journal of Computer Science and Applications, ©</a:t>
            </a:r>
            <a:r>
              <a:rPr lang="en-US" sz="1500" dirty="0" err="1"/>
              <a:t>Technomathematics</a:t>
            </a:r>
            <a:r>
              <a:rPr lang="en-US" sz="1500" dirty="0"/>
              <a:t> Research Foundation Vol. 7, No. 1, pp. 94 – 107, 2010. </a:t>
            </a:r>
          </a:p>
          <a:p>
            <a:pPr lvl="0" fontAlgn="base">
              <a:buNone/>
            </a:pPr>
            <a:endParaRPr lang="en-GB" sz="1500" dirty="0"/>
          </a:p>
          <a:p>
            <a:pPr lvl="0" fontAlgn="base">
              <a:buFont typeface="Wingdings" panose="05000000000000000000" pitchFamily="2" charset="2"/>
              <a:buChar char="Ø"/>
            </a:pPr>
            <a:r>
              <a:rPr lang="en-US" sz="1500" dirty="0" err="1"/>
              <a:t>S.BanuChitra</a:t>
            </a:r>
            <a:r>
              <a:rPr lang="en-US" sz="1500" dirty="0"/>
              <a:t>, </a:t>
            </a:r>
            <a:r>
              <a:rPr lang="en-US" sz="1500" dirty="0" err="1"/>
              <a:t>DrR.S.Vetrivel</a:t>
            </a:r>
            <a:r>
              <a:rPr lang="en-US" sz="1500" dirty="0"/>
              <a:t>, 'TEXT RECOGNITION USING DIGITAL IMAGE PROCESSING TECHNIQUES', International Journal of Computer Engineering and Applications, Volume XII, Issue I, Jan. 18.</a:t>
            </a:r>
          </a:p>
          <a:p>
            <a:pPr>
              <a:buNone/>
            </a:pPr>
            <a:endParaRPr lang="en-GB" sz="15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500" dirty="0"/>
              <a:t>Ms. N. </a:t>
            </a:r>
            <a:r>
              <a:rPr lang="en-US" sz="1500" dirty="0" err="1"/>
              <a:t>Geetha</a:t>
            </a:r>
            <a:r>
              <a:rPr lang="en-US" sz="1500" dirty="0"/>
              <a:t>, Dr. E. S. </a:t>
            </a:r>
            <a:r>
              <a:rPr lang="en-US" sz="1500" dirty="0" err="1"/>
              <a:t>Samundeeswari</a:t>
            </a:r>
            <a:r>
              <a:rPr lang="en-US" sz="1500" dirty="0"/>
              <a:t>, ' Image Text Extraction and Recognition using Hybrid Approach of Region Based and Connected Component Methods' , International Journal of Engineering Research &amp; Technology (IJERT) IJERT ISSN: 2278-0181, Vol. 3 Issue 6, June – 2014</a:t>
            </a:r>
          </a:p>
          <a:p>
            <a:pPr marL="0" lvl="0" indent="0">
              <a:buNone/>
            </a:pPr>
            <a:endParaRPr lang="en-US" sz="1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500" dirty="0" err="1"/>
              <a:t>Basavaprasad</a:t>
            </a:r>
            <a:r>
              <a:rPr lang="en-US" sz="1500" dirty="0"/>
              <a:t> B, Ravi M, ‘ A comparative study on classification of image segmentation methods with a focus on graph based techniques’, , International Journal of Engineering Research &amp; Technology (IJERT) IJERT </a:t>
            </a:r>
            <a:r>
              <a:rPr lang="en-US" sz="1500" dirty="0" err="1"/>
              <a:t>pISSN</a:t>
            </a:r>
            <a:r>
              <a:rPr lang="en-US" sz="1500" dirty="0"/>
              <a:t>: 2319-1163, Vol. 3 Issue 03, May – 2014</a:t>
            </a:r>
            <a:endParaRPr lang="en-GB" sz="1500" dirty="0"/>
          </a:p>
          <a:p>
            <a:endParaRPr lang="en-GB" sz="15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505</TotalTime>
  <Words>673</Words>
  <Application>Microsoft Office PowerPoint</Application>
  <PresentationFormat>On-screen Show (4:3)</PresentationFormat>
  <Paragraphs>150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Trek</vt:lpstr>
      <vt:lpstr>SCRIPT RECOGNITION WITH MULTI-LINGUAL TRANSLATION </vt:lpstr>
      <vt:lpstr>Contents</vt:lpstr>
      <vt:lpstr>Problem overview:</vt:lpstr>
      <vt:lpstr>problem overview</vt:lpstr>
      <vt:lpstr>AIM</vt:lpstr>
      <vt:lpstr>objective :</vt:lpstr>
      <vt:lpstr>What we had to do overall!</vt:lpstr>
      <vt:lpstr>method we approached..</vt:lpstr>
      <vt:lpstr>Flow diagram</vt:lpstr>
      <vt:lpstr>implementation</vt:lpstr>
      <vt:lpstr>Implementation (pre-processing)</vt:lpstr>
      <vt:lpstr>Implementation (pre-processing)</vt:lpstr>
      <vt:lpstr>Implementation (pre-processing)</vt:lpstr>
      <vt:lpstr>image processing (text extraction)</vt:lpstr>
      <vt:lpstr>Line Segmentation</vt:lpstr>
      <vt:lpstr>Word segmentation</vt:lpstr>
      <vt:lpstr>Creating Dataset</vt:lpstr>
      <vt:lpstr>Dataset image</vt:lpstr>
      <vt:lpstr>Deep learning</vt:lpstr>
      <vt:lpstr>Convolution Neural Network (Cnn) : </vt:lpstr>
      <vt:lpstr>Layers in Cnn : </vt:lpstr>
      <vt:lpstr>Layers in cnn: convolutional</vt:lpstr>
      <vt:lpstr>Layers in CNN: Rectified Linear Unit Layer (ReLu): </vt:lpstr>
      <vt:lpstr>Layers in Cnn: Maxpooling</vt:lpstr>
      <vt:lpstr>Layers in cnn:  Flatten layer</vt:lpstr>
      <vt:lpstr>Model creation: Sequential model:</vt:lpstr>
      <vt:lpstr>Learning model:</vt:lpstr>
      <vt:lpstr>Prediction :</vt:lpstr>
      <vt:lpstr>translation</vt:lpstr>
      <vt:lpstr>Applications</vt:lpstr>
      <vt:lpstr>Limitations: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Windows User</cp:lastModifiedBy>
  <cp:revision>130</cp:revision>
  <dcterms:created xsi:type="dcterms:W3CDTF">2020-07-14T01:46:24Z</dcterms:created>
  <dcterms:modified xsi:type="dcterms:W3CDTF">2020-07-15T04:06:33Z</dcterms:modified>
</cp:coreProperties>
</file>